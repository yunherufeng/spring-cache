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969264"/>
            <a:ext cx="10424160" cy="4526280"/>
          </a:xfrm>
          <a:prstGeom prst="roundRect">
            <a:avLst/>
          </a:prstGeom>
          <a:solidFill>
            <a:srgbClr val="121828"/>
          </a:solidFill>
          <a:ln w="1397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44752"/>
            <a:ext cx="9875520" cy="8686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Arial"/>
              </a:rPr>
              <a:t>Local Cache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04288"/>
            <a:ext cx="987552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2000" b="0">
                <a:solidFill>
                  <a:srgbClr val="E0E6F0"/>
                </a:solidFill>
                <a:latin typeface="Microsoft YaHei"/>
              </a:rPr>
              <a:t>基于 Spring Boot 的本地缓存框架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072384"/>
            <a:ext cx="1828800" cy="493776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072384"/>
            <a:ext cx="54864" cy="4937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3145536"/>
            <a:ext cx="16093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Java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072384"/>
            <a:ext cx="1828800" cy="493776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3072384"/>
            <a:ext cx="54864" cy="4937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3145536"/>
            <a:ext cx="16093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Spring Boot 3.3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072384"/>
            <a:ext cx="1828800" cy="493776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3072384"/>
            <a:ext cx="54864" cy="4937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3145536"/>
            <a:ext cx="16093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Thymeleaf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3072384"/>
            <a:ext cx="1828800" cy="493776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79" y="3072384"/>
            <a:ext cx="54864" cy="4937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3" y="3145536"/>
            <a:ext cx="16093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ConcurrentHashMap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072384"/>
            <a:ext cx="1828800" cy="493776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3072384"/>
            <a:ext cx="54864" cy="4937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3145536"/>
            <a:ext cx="16093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ReentrantLock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68496"/>
            <a:ext cx="9875520" cy="4114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800" b="1">
                <a:solidFill>
                  <a:srgbClr val="A78BFA"/>
                </a:solidFill>
                <a:latin typeface="Arial"/>
              </a:rPr>
              <a:t>Strategy / Template Method / Facade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581144"/>
            <a:ext cx="9875520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00" b="0">
                <a:solidFill>
                  <a:srgbClr val="6B7E99"/>
                </a:solidFill>
                <a:latin typeface="Arial"/>
              </a:rPr>
              <a:t>Designing pluggable eviction policies with clear service boundaries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6528816"/>
            <a:ext cx="1600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758952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系统架构全景图（精华版）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7472"/>
            <a:ext cx="356616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6B7E99"/>
                </a:solidFill>
                <a:latin typeface="Arial"/>
              </a:rPr>
              <a:t>extracted from 01-architecture.html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005840"/>
            <a:ext cx="10936224" cy="8229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005840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078992"/>
            <a:ext cx="10716768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335024"/>
            <a:ext cx="107167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Dashboard 页面 + REST Client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1847088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1947672"/>
            <a:ext cx="10936224" cy="8229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1947672"/>
            <a:ext cx="54864" cy="8229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020824"/>
            <a:ext cx="10716768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276856"/>
            <a:ext cx="107167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DashboardController / CacheRestController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71032" y="2788920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2889504"/>
            <a:ext cx="10936224" cy="8229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2889504"/>
            <a:ext cx="54864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962656"/>
            <a:ext cx="10716768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218688"/>
            <a:ext cx="107167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CacheManagerService(门面) + ProductRepository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71032" y="3730752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3831336"/>
            <a:ext cx="10936224" cy="8229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3831336"/>
            <a:ext cx="54864" cy="8229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904488"/>
            <a:ext cx="10716768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CACHE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160520"/>
            <a:ext cx="107167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Cache / LocalCache / EvictionPolicy / LRU-LFU-FIFO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71032" y="4672584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" y="4773168"/>
            <a:ext cx="10936224" cy="8229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" y="4773168"/>
            <a:ext cx="54864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846320"/>
            <a:ext cx="10716768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102352"/>
            <a:ext cx="107167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ConcurrentHashMap + 双向链表 + 频率桶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806440"/>
            <a:ext cx="10936224" cy="56692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5806440"/>
            <a:ext cx="54864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879592"/>
            <a:ext cx="10716768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演讲重点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6135624"/>
            <a:ext cx="107167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一句话：控制层接请求，服务层做编排，核心层可插拔策略，底层结构保证 O(1) 级操作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528816"/>
            <a:ext cx="320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758952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请求生命周期（精华版）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7472"/>
            <a:ext cx="356616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6B7E99"/>
                </a:solidFill>
                <a:latin typeface="Arial"/>
              </a:rPr>
              <a:t>extracted from 02-request-lifecycle.html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43000"/>
            <a:ext cx="2011680" cy="47548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2011680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1. HTTP 请求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07792" y="1307592"/>
            <a:ext cx="237744" cy="128016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18688" y="1143000"/>
            <a:ext cx="2560320" cy="47548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143000"/>
            <a:ext cx="2560320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2. cache.lookup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52160" y="1307592"/>
            <a:ext cx="237744" cy="128016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1143000"/>
            <a:ext cx="2560320" cy="47548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143000"/>
            <a:ext cx="2560320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3. 判断TTL/存在性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1965960"/>
            <a:ext cx="3611880" cy="22860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1965960"/>
            <a:ext cx="54864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039112"/>
            <a:ext cx="339242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HIT 分支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2295144"/>
            <a:ext cx="3392424" cy="19019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直接返回缓存
recordAccess
hitCount++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1965960"/>
            <a:ext cx="3611880" cy="22860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1965960"/>
            <a:ext cx="54864" cy="2286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039112"/>
            <a:ext cx="339242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MISS 分支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95144"/>
            <a:ext cx="3392424" cy="19019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回源 ProductRepository
写入 cache.put
missCount++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965960"/>
            <a:ext cx="3090672" cy="22860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54864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2039112"/>
            <a:ext cx="2871215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EXPIRED 分支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2295144"/>
            <a:ext cx="2871215" cy="19019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移除旧条目
回源并重建缓存
expiredCount++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4526280"/>
            <a:ext cx="1874519" cy="42062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526280"/>
            <a:ext cx="1874519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source = HIT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0288" y="4526280"/>
            <a:ext cx="1874519" cy="420624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4526280"/>
            <a:ext cx="1874519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source = MISS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4526280"/>
            <a:ext cx="2240280" cy="42062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4526280"/>
            <a:ext cx="224028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source = EXPIRED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" y="5166360"/>
            <a:ext cx="10954512" cy="111556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" y="5166360"/>
            <a:ext cx="54864" cy="11155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239512"/>
            <a:ext cx="1073505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容量满时的公共动作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5495544"/>
            <a:ext cx="10735056" cy="7315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size ≥ capacity 时触发 evictKey()；不同策略仅改变 victim 的选择规则（LRU / LFU / FIFO）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6528816"/>
            <a:ext cx="4800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758952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LRU 策略原理（精华版）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7472"/>
            <a:ext cx="356616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6B7E99"/>
                </a:solidFill>
                <a:latin typeface="Arial"/>
              </a:rPr>
              <a:t>extracted from 03-lru-policy.html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960120"/>
            <a:ext cx="10954512" cy="786384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960120"/>
            <a:ext cx="54864" cy="7863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033272"/>
            <a:ext cx="1073505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核心定义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289304"/>
            <a:ext cx="10735056" cy="40233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最近访问的元素最不容易被淘汰；访问命中会改变顺序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1"/>
            <a:ext cx="1060704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访问前：head → K1 → K2 → K3 → K4 →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060704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2000" b="0">
                <a:solidFill>
                  <a:srgbClr val="34D399"/>
                </a:solidFill>
                <a:latin typeface="Arial"/>
              </a:rPr>
              <a:t>访问 K2 后：head → K1 → K3 → K4 → K2 → 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401568"/>
            <a:ext cx="3502152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401568"/>
            <a:ext cx="54864" cy="15727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474720"/>
            <a:ext cx="328269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数据结构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730752"/>
            <a:ext cx="3282696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HashMap + 双向链表
nodeIndex O(1) 定位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7136" y="3401568"/>
            <a:ext cx="3502152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7136" y="3401568"/>
            <a:ext cx="54864" cy="15727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474720"/>
            <a:ext cx="328269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关键动作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30752"/>
            <a:ext cx="3282696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onAccess -&gt; moveToTail
evictKey -&gt; head.next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3401568"/>
            <a:ext cx="2624328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3401568"/>
            <a:ext cx="54864" cy="15727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474720"/>
            <a:ext cx="2404872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复杂度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30752"/>
            <a:ext cx="2404872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查询/更新/淘汰
均可到 O(1)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5212080"/>
            <a:ext cx="10954512" cy="100584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" y="521208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285232"/>
            <a:ext cx="1073505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演讲口诀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5541264"/>
            <a:ext cx="10735056" cy="6217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写入尾插、访问移尾、淘汰弹头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6528816"/>
            <a:ext cx="6400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758952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LFU 策略原理（精华版）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7472"/>
            <a:ext cx="356616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6B7E99"/>
                </a:solidFill>
                <a:latin typeface="Arial"/>
              </a:rPr>
              <a:t>extracted from 04-lfu-policy.html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960120"/>
            <a:ext cx="5257800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960120"/>
            <a:ext cx="54864" cy="15727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033272"/>
            <a:ext cx="50383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结构一：frequencies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289304"/>
            <a:ext cx="5038344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记录 key -&gt; 当前访问频次
如 K1-&gt;1, K2-&gt;2, K3-&gt;3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1384" y="960120"/>
            <a:ext cx="4343400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1384" y="960120"/>
            <a:ext cx="54864" cy="15727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1033272"/>
            <a:ext cx="4123944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结构二：keysByFrequency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1289304"/>
            <a:ext cx="4123944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记录 freq -&gt; keys 集合
同频次用 LinkedHashSet 保序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2761488"/>
            <a:ext cx="10954512" cy="896112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2761488"/>
            <a:ext cx="54864" cy="8961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34640"/>
            <a:ext cx="1073505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核心指针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090672"/>
            <a:ext cx="10735056" cy="51206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minFrequency 始终指向当前最小频次桶；淘汰时先看它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977639"/>
            <a:ext cx="251460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977639"/>
            <a:ext cx="2514600" cy="6858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1) 新键入 freq=1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84448" y="3977639"/>
            <a:ext cx="251460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3977639"/>
            <a:ext cx="2514600" cy="6858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2) 命中后频次+1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977639"/>
            <a:ext cx="251460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977639"/>
            <a:ext cx="2514600" cy="6858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3) 空桶则更新min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3977639"/>
            <a:ext cx="182880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3977639"/>
            <a:ext cx="1828800" cy="6858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4) 按min淘汰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01568" y="4315968"/>
            <a:ext cx="182880" cy="0"/>
          </a:xfrm>
          <a:prstGeom prst="line">
            <a:avLst/>
          </a:prstGeom>
          <a:ln w="12700">
            <a:solidFill>
              <a:srgbClr val="6B7E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44768" y="4315968"/>
            <a:ext cx="182880" cy="0"/>
          </a:xfrm>
          <a:prstGeom prst="line">
            <a:avLst/>
          </a:prstGeom>
          <a:ln w="12700">
            <a:solidFill>
              <a:srgbClr val="6B7E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87968" y="4315968"/>
            <a:ext cx="182880" cy="0"/>
          </a:xfrm>
          <a:prstGeom prst="line">
            <a:avLst/>
          </a:prstGeom>
          <a:ln w="12700">
            <a:solidFill>
              <a:srgbClr val="6B7E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4672" y="4983480"/>
            <a:ext cx="10954512" cy="123444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" y="4983480"/>
            <a:ext cx="54864" cy="1234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056632"/>
            <a:ext cx="1073505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演讲结论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312664"/>
            <a:ext cx="10735056" cy="8503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LFU 先比较访问频次，再比较同频次先后顺序；适合高频热点稳定的场景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6528816"/>
            <a:ext cx="8001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758952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FIFO 策略原理（精华版）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7472"/>
            <a:ext cx="356616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6B7E99"/>
                </a:solidFill>
                <a:latin typeface="Arial"/>
              </a:rPr>
              <a:t>extracted from 05-fifo-policy.html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960120"/>
            <a:ext cx="10954512" cy="8229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960120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033272"/>
            <a:ext cx="1073505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核心定义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289304"/>
            <a:ext cx="10735056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只按进入时间淘汰；访问不会改变顺序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1"/>
            <a:ext cx="1060704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Arial"/>
              </a:rPr>
              <a:t>当前顺序：head → K1 → K2 → K3 → K4 →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1060704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800" b="0">
                <a:solidFill>
                  <a:srgbClr val="FB923C"/>
                </a:solidFill>
                <a:latin typeface="Arial"/>
              </a:rPr>
              <a:t>访问 K2/K4 后：顺序不变（onAccess = no-op）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0607040" cy="4572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0">
                <a:solidFill>
                  <a:srgbClr val="34D399"/>
                </a:solidFill>
                <a:latin typeface="Arial"/>
              </a:rPr>
              <a:t>容量满后：淘汰 K1，插入 K5 → head → K2 → K3 → K4 → K5 → 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977639"/>
            <a:ext cx="3502152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3977639"/>
            <a:ext cx="54864" cy="15727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050791"/>
            <a:ext cx="328269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写入规则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06824"/>
            <a:ext cx="3282696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append 到尾部
保持到达顺序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3977639"/>
            <a:ext cx="3502152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17136" y="3977639"/>
            <a:ext cx="54864" cy="15727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050791"/>
            <a:ext cx="3282696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访问规则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06824"/>
            <a:ext cx="3282696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只读不改序
实现最稳定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0456" y="3977639"/>
            <a:ext cx="2624328" cy="157276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3977639"/>
            <a:ext cx="54864" cy="15727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050791"/>
            <a:ext cx="2404872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/>
              </a:rPr>
              <a:t>淘汰规则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306824"/>
            <a:ext cx="2404872" cy="11887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94A3B8"/>
                </a:solidFill>
                <a:latin typeface="Microsoft YaHei"/>
              </a:rPr>
              <a:t>evictKey=head.next
最早进入先出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6528816"/>
            <a:ext cx="9601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4389120" cy="3291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840480" cy="2834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solidFill>
            <a:srgbClr val="12182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7589520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三种策略对比总结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7472"/>
            <a:ext cx="356616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6B7E99"/>
                </a:solidFill>
                <a:latin typeface="Arial"/>
              </a:rPr>
              <a:t>LRU / LFU / FIFO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14400"/>
            <a:ext cx="2011680" cy="612648"/>
          </a:xfrm>
          <a:prstGeom prst="rect">
            <a:avLst/>
          </a:prstGeom>
          <a:solidFill>
            <a:srgbClr val="161F33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932688"/>
            <a:ext cx="193852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914400"/>
            <a:ext cx="3063240" cy="612648"/>
          </a:xfrm>
          <a:prstGeom prst="rect">
            <a:avLst/>
          </a:prstGeom>
          <a:solidFill>
            <a:srgbClr val="161F33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932688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LRU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41848" y="914400"/>
            <a:ext cx="3063240" cy="612648"/>
          </a:xfrm>
          <a:prstGeom prst="rect">
            <a:avLst/>
          </a:prstGeom>
          <a:solidFill>
            <a:srgbClr val="161F33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8424" y="932688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LFU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5088" y="914400"/>
            <a:ext cx="3063240" cy="612648"/>
          </a:xfrm>
          <a:prstGeom prst="rect">
            <a:avLst/>
          </a:prstGeom>
          <a:solidFill>
            <a:srgbClr val="161F33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41663" y="932688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FIFO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527048"/>
            <a:ext cx="2011680" cy="612648"/>
          </a:xfrm>
          <a:prstGeom prst="rect">
            <a:avLst/>
          </a:prstGeom>
          <a:solidFill>
            <a:srgbClr val="121828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545336"/>
            <a:ext cx="193852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数据结构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8608" y="1527048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545336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HashMap + 双向链表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41848" y="1527048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8424" y="1545336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HashMap + 频次桶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5088" y="1527048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1663" y="1545336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HashMap + 双向链表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139696"/>
            <a:ext cx="2011680" cy="612648"/>
          </a:xfrm>
          <a:prstGeom prst="rect">
            <a:avLst/>
          </a:prstGeom>
          <a:solidFill>
            <a:srgbClr val="121828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2157984"/>
            <a:ext cx="193852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写入行为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8608" y="2139696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2157984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尾插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41848" y="2139696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78424" y="2157984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freq=1 入桶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05088" y="2139696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1663" y="2157984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尾插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752344"/>
            <a:ext cx="2011680" cy="612648"/>
          </a:xfrm>
          <a:prstGeom prst="rect">
            <a:avLst/>
          </a:prstGeom>
          <a:solidFill>
            <a:srgbClr val="121828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2770632"/>
            <a:ext cx="193852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访问行为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2752344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15184" y="2770632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移尾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41848" y="2752344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78424" y="2770632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频次 +1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2752344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1663" y="2770632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不变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364991"/>
            <a:ext cx="2011680" cy="612648"/>
          </a:xfrm>
          <a:prstGeom prst="rect">
            <a:avLst/>
          </a:prstGeom>
          <a:solidFill>
            <a:srgbClr val="121828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383279"/>
            <a:ext cx="193852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淘汰对象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78608" y="3364991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5184" y="3383279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最久未访问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41848" y="3364991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78424" y="3383279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最少访问（同频按序）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05088" y="3364991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1663" y="3383279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最早写入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977639"/>
            <a:ext cx="2011680" cy="612648"/>
          </a:xfrm>
          <a:prstGeom prst="rect">
            <a:avLst/>
          </a:prstGeom>
          <a:solidFill>
            <a:srgbClr val="121828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3995927"/>
            <a:ext cx="193852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"/>
              </a:rPr>
              <a:t>时间复杂度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78608" y="3977639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15184" y="3995927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O(1)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41848" y="3977639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78424" y="3995927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均摊 O(1)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05088" y="3977639"/>
            <a:ext cx="3063240" cy="612648"/>
          </a:xfrm>
          <a:prstGeom prst="rect">
            <a:avLst/>
          </a:prstGeom>
          <a:solidFill>
            <a:srgbClr val="0A0E1A"/>
          </a:solidFill>
          <a:ln w="1143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41663" y="3995927"/>
            <a:ext cx="2990088" cy="57607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60" b="0">
                <a:solidFill>
                  <a:srgbClr val="E0E6F0"/>
                </a:solidFill>
                <a:latin typeface="Microsoft YaHei"/>
              </a:rPr>
              <a:t>O(1)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138928"/>
            <a:ext cx="10972800" cy="32918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220" b="0">
                <a:solidFill>
                  <a:srgbClr val="94A3B8"/>
                </a:solidFill>
                <a:latin typeface="Microsoft YaHei"/>
              </a:rPr>
              <a:t>适用场景：LRU（热点明显） / LFU（高频稳定） / FIFO（简单可预测）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5504688"/>
            <a:ext cx="10972800" cy="38404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Microsoft YaHei"/>
              </a:rPr>
              <a:t>一句话总结：统一抽象 + 策略可插拔 = 在性能、复杂度、可维护性之间取得最佳平衡。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1D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6528816"/>
            <a:ext cx="11201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6345936"/>
            <a:ext cx="14173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950" b="0">
                <a:solidFill>
                  <a:srgbClr val="6B7E99"/>
                </a:solidFill>
                <a:latin typeface="Arial"/>
              </a:rP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